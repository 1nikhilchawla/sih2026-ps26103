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F3864"/>
                </a:solidFill>
              </a:rPr>
              <a:t>Original vs revised cost (₹ lakh crore)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cost</c:v>
                </c:pt>
              </c:strCache>
            </c:strRef>
          </c:tx>
          <c:spPr>
            <a:solidFill>
              <a:srgbClr val="0F62A8"/>
            </a:solidFill>
          </c:spPr>
          <c:cat>
            <c:strRef>
              <c:f>Sheet1!$A$2:$A$5</c:f>
              <c:strCache>
                <c:ptCount val="4"/>
                <c:pt idx="0">
                  <c:v>Jul 2019</c:v>
                </c:pt>
                <c:pt idx="1">
                  <c:v>Oct 2024</c:v>
                </c:pt>
                <c:pt idx="2">
                  <c:v>Jun 2025</c:v>
                </c:pt>
                <c:pt idx="3">
                  <c:v>Jul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19.33</c:v>
                </c:pt>
                <c:pt idx="1">
                  <c:v>26.1</c:v>
                </c:pt>
                <c:pt idx="2">
                  <c:v>26.86</c:v>
                </c:pt>
                <c:pt idx="3">
                  <c:v>33.7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Revised / Anticipated</c:v>
                </c:pt>
              </c:strCache>
            </c:strRef>
          </c:tx>
          <c:spPr>
            <a:solidFill>
              <a:srgbClr val="E87722"/>
            </a:solidFill>
          </c:spPr>
          <c:cat>
            <c:strRef>
              <c:f>Sheet1!$A$2:$A$5</c:f>
              <c:strCache>
                <c:ptCount val="4"/>
                <c:pt idx="0">
                  <c:v>Jul 2019</c:v>
                </c:pt>
                <c:pt idx="1">
                  <c:v>Oct 2024</c:v>
                </c:pt>
                <c:pt idx="2">
                  <c:v>Jun 2025</c:v>
                </c:pt>
                <c:pt idx="3">
                  <c:v>Jul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23.22</c:v>
                </c:pt>
                <c:pt idx="1">
                  <c:v>31.1</c:v>
                </c:pt>
                <c:pt idx="2">
                  <c:v>29.75</c:v>
                </c:pt>
                <c:pt idx="3">
                  <c:v>37.11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148840"/>
            <a:ext cx="6309360" cy="320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Problem Statement ID – </a:t>
            </a:r>
            <a:r>
              <a:rPr sz="1400" b="0">
                <a:solidFill>
                  <a:srgbClr val="0F62A8"/>
                </a:solidFill>
                <a:latin typeface="Calibri"/>
              </a:rPr>
              <a:t>SIH26103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Problem Statement Title- </a:t>
            </a:r>
            <a:r>
              <a:rPr sz="1400" b="0">
                <a:solidFill>
                  <a:srgbClr val="0F62A8"/>
                </a:solidFill>
                <a:latin typeface="Calibri"/>
              </a:rPr>
              <a:t>Predictive analytics for infrastructure project monitoring (MoSPI / PAIMANA)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Theme- </a:t>
            </a:r>
            <a:r>
              <a:rPr sz="1400" b="0">
                <a:solidFill>
                  <a:srgbClr val="0F62A8"/>
                </a:solidFill>
                <a:latin typeface="Calibri"/>
              </a:rPr>
              <a:t>Smart Automation / Data Analytics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PS Category- </a:t>
            </a:r>
            <a:r>
              <a:rPr sz="1400" b="0">
                <a:solidFill>
                  <a:srgbClr val="0F62A8"/>
                </a:solidFill>
                <a:latin typeface="Calibri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Team ID- </a:t>
            </a:r>
            <a:r>
              <a:rPr sz="1400" b="0">
                <a:solidFill>
                  <a:srgbClr val="0F62A8"/>
                </a:solidFill>
                <a:latin typeface="Calibri"/>
              </a:rPr>
              <a:t>________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Team Name (Registered on portal)- </a:t>
            </a:r>
            <a:r>
              <a:rPr sz="1400" b="0">
                <a:solidFill>
                  <a:srgbClr val="0F62A8"/>
                </a:solidFill>
                <a:latin typeface="Calibri"/>
              </a:rPr>
              <a:t>________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29184" y="5532120"/>
            <a:ext cx="5989320" cy="932688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ANUMAAN — अनुमान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DEE8F6"/>
                </a:solidFill>
                <a:latin typeface="Calibri"/>
              </a:rPr>
              <a:t>We audit the completion date the agency itself published — and forecast the slip before it is announced.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7818120" cy="96012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ANUMAAN — FORECAST AUDITOR FOR PAIMANA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11480" y="1188720"/>
            <a:ext cx="11365992" cy="73152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One-line solution: a project × month panel built from 307 MoSPI Flash Reports that scores every ongoing project each month with a calibrated slip probability, a P10/P50/P90 completion window, the reason, and the authority who can clear it.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2048256"/>
            <a:ext cx="3602736" cy="3584448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Proposed Solution (Describe your Idea/Solution/Prototype)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Harvest all 307 monthly Flash Reports (FY2001-02 to FY2026-27), each pinned by SHA-256.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Parse, reconcile against the report's own totals, then build one row per project × month.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Four targets, point-in-time features only: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55F6D"/>
                </a:solidFill>
                <a:latin typeface="Calibri"/>
              </a:rPr>
              <a:t>   T1  slip ≥ 6 / 12 months (calibrated probability)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55F6D"/>
                </a:solidFill>
                <a:latin typeface="Calibri"/>
              </a:rPr>
              <a:t>   T2  months-to-commissioning (hazard model, censored)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55F6D"/>
                </a:solidFill>
                <a:latin typeface="Calibri"/>
              </a:rPr>
              <a:t>   T3  final cost ratio P10/P50/P90 (conformal)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55F6D"/>
                </a:solidFill>
                <a:latin typeface="Calibri"/>
              </a:rPr>
              <a:t>   T4  months past original date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Every alert carries a SHAP reason and the owning authority, from a 13-cause taxonomy in MoSPI's own vocabulary.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97680" y="2048256"/>
            <a:ext cx="3602736" cy="3584448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Detailed explanation of the proposed solution · How it addresses the problem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PAIMANA publishes status. Nobody audits the estimate.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Jul 2026 report: 1,775 projects, 17 ministries.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Original ₹33,70,138 cr → revised ₹37,10,642 cr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E87722"/>
                </a:solidFill>
                <a:latin typeface="Calibri"/>
              </a:rPr>
              <a:t>   = ₹3,40,504 cr overrun (+10.10%).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Apr 2024 report: 792 of 1,838 projects delayed = 43.1%; time overrun spans 1 to 261 months.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The stated date is revised month after month, and the drift is visible in the panel long before the revision is printed.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E7A46"/>
                </a:solidFill>
                <a:latin typeface="Calibri"/>
              </a:rPr>
              <a:t>• ANUMAAN scores that drift monthly and publishes what the next revision will most likely say.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174736" y="2048256"/>
            <a:ext cx="3602736" cy="3584448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Innovation and uniqueness of the solution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A panel, not a snapshot: 307 reports, not one month of scraping.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• A forecast-vs-outcome scorecard per agency — we grade the forecaster, not only the project.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Walk-forward validation, reliability diagram and Brier score; conformal coverage measured on held-out months.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Censoring handled properly: ongoing projects are modelled, never dropped.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A data-quality gate (DQ001-DQ012) that fails closed, plus identity resolution across OCMS / PAIMANA / PMGID codes.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4 distinct report layouts (2019-2026) already parsed and reconciled.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207008"/>
            <a:ext cx="4617720" cy="41605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Technologies to be used (e.g. programming languages, frameworks, hardware)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Ingest and parse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Python 3.11 · requests · pdfplumber, one parser per layout · SHA-256 manifest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Store and compute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DuckDB for the panel and features · pandas · pandera schema checks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Model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LightGBM plus a regularised logistic baseline — the PS asks for that comparison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lifelines for the discrete-time hazard · MAPIE for conformal intervals · SHAP for reasons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Serve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FastAPI and a React dashboard · model card and datasheet with every release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Deploy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NIC MeghRaj VM, 4 vCPU / 16 GB · logs held in Indian jurisdiction · GIGW-aligned UI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257800" y="1207008"/>
            <a:ext cx="6519672" cy="41605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Methodology and process for implementation (Flow Charts/Images/ working prototype)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40680" y="1783080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0F6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  HARVEST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949440" y="1801368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307 reports via the portal report endpoints; manifest + SHA-256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40680" y="2281428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0F6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  PARSE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949440" y="2299716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per-layout parsers: OCMS · Part I/II · Synopsis+Tables · PAIMANA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40680" y="2779776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  RECONCILE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949440" y="2798064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detail rows against the report's own summary totals — fail closed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40680" y="3278124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0F6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  RESOLVE ID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49440" y="3296412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exact code, then fuzzy name within ministry and cost band, then manual residual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40680" y="3776472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0F6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  PANEL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949440" y="3794759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one row per project × month; point-in-time features only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40680" y="4274820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  MODEL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949440" y="4293107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walk-forward folds with a label embargo; logistic vs LightGBM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440680" y="4773168"/>
            <a:ext cx="1417320" cy="402336"/>
          </a:xfrm>
          <a:prstGeom prst="roundRect">
            <a:avLst>
              <a:gd name="adj" fmla="val 22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7  ALERT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949440" y="4791456"/>
            <a:ext cx="4709160" cy="384048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calibrated probability + P10/P50/P90 + reason + authority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11480" y="5532120"/>
            <a:ext cx="3630168" cy="71323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2.4 pages/sec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EE8F6"/>
                </a:solidFill>
                <a:latin typeface="Calibri"/>
              </a:rPr>
              <a:t>measured parse throughput (572 pages in 239 s)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79392" y="5532120"/>
            <a:ext cx="3630168" cy="713232"/>
          </a:xfrm>
          <a:prstGeom prst="roundRect">
            <a:avLst>
              <a:gd name="adj" fmla="val 10000"/>
            </a:avLst>
          </a:prstGeom>
          <a:solidFill>
            <a:srgbClr val="0F6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307 / 93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EE8F6"/>
                </a:solidFill>
                <a:latin typeface="Calibri"/>
              </a:rPr>
              <a:t>reports listed · reports from FY2019-20 onward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147304" y="5532120"/>
            <a:ext cx="3630168" cy="713232"/>
          </a:xfrm>
          <a:prstGeom prst="roundRect">
            <a:avLst>
              <a:gd name="adj" fmla="val 1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~1.6 lakh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EE8F6"/>
                </a:solidFill>
                <a:latin typeface="Calibri"/>
              </a:rPr>
              <a:t>project-month rows in the FY2019-20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207008"/>
            <a:ext cx="3767328" cy="3035808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Analysis of the feasibility of the idea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Technical — measured, not assumed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Data reachable: 307 reports, HTTP 200 application/pdf verified 16 Sep 2026.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One-time corpus parse ≈ 8.9 h (76,750 pages ÷ 2.4 pages/s); monthly top-up ≈ 64 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Storage ≈ 2.5 GB of PDFs and under 200 MB of DuckDB; LightGBM trains in seconds on 4 vCPU.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Economic — ₹2.0 lakh per year to run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MeghRaj VM ₹1.44 L + 100 GB storage ₹0.06 L + ₹0.5 L contingency.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No licence cost: every component is open source.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79976" y="1207008"/>
            <a:ext cx="3767328" cy="3035808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Potential challenges and risks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Layout drift: 4 distinct report formats between 2019 and 2026, and a single parser silently returns zero rows.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87722"/>
                </a:solidFill>
                <a:latin typeface="Calibri"/>
              </a:rPr>
              <a:t>• Panel breaks: the Oct 2025 report covers 820 projects and excludes MoRTH, against 1,775 in Jul 2026.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Sentinel and missing values: 01/1900 dates, NA approvals, 0% progress with crores already spent.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Right-censoring: most projects are still running, so plain regression on finished ones is biased.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Time leakage: an aggregate computed over the full history inflates every score.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348472" y="1207008"/>
            <a:ext cx="3429000" cy="3035808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Strategies · for overcoming these challenges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One parser per era, plus reconciliation against each report's own totals; a parse that disagrees is rejected, never used.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7A46"/>
                </a:solidFill>
                <a:latin typeface="Calibri"/>
              </a:rPr>
              <a:t>• Panel-break flag: a ministry leaving the report is recorded as censoring, not completion.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DQ001-DQ012 gate: BLOCKER rows are never scored and appear as “insufficient data” with a reason code.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A discrete-time hazard on the project-month table keeps ongoing projects in.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Walk-forward folds with a label embargo, and an as-of feature audit before any number is shown.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4389120"/>
            <a:ext cx="11365992" cy="1883664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PROOF — every figure below is read from that month's own Flash Report (₹ crore)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66928" y="4901184"/>
            <a:ext cx="237744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971800" y="4901184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06240" y="4901184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Original cost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989320" y="4901184"/>
            <a:ext cx="205740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Revised / Anticipated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092440" y="4901184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Overrun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875520" y="4901184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66928" y="5248656"/>
            <a:ext cx="237744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AF1FA"/>
                </a:solidFill>
                <a:latin typeface="Calibri"/>
              </a:rPr>
              <a:t>Jul 2019 (OCMS)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971800" y="5248656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1,623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206240" y="5248656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19,33,390.22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989320" y="5248656"/>
            <a:ext cx="205740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23,21,502.84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092440" y="5248656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D2A8"/>
                </a:solidFill>
                <a:latin typeface="Calibri"/>
              </a:rPr>
              <a:t>3,88,112.62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875520" y="5248656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D2A8"/>
                </a:solidFill>
                <a:latin typeface="Calibri"/>
              </a:rPr>
              <a:t>20.07%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66928" y="5596128"/>
            <a:ext cx="237744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AF1FA"/>
                </a:solidFill>
                <a:latin typeface="Calibri"/>
              </a:rPr>
              <a:t>Jun 2025 (pre-PAIMANA)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971800" y="5596128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1,595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206240" y="5596128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26,85,568.07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989320" y="5596128"/>
            <a:ext cx="205740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29,75,429.26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092440" y="5596128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D2A8"/>
                </a:solidFill>
                <a:latin typeface="Calibri"/>
              </a:rPr>
              <a:t>2,89,861.19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875520" y="5596128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D2A8"/>
                </a:solidFill>
                <a:latin typeface="Calibri"/>
              </a:rPr>
              <a:t>10.79%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66928" y="5943600"/>
            <a:ext cx="237744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AF1FA"/>
                </a:solidFill>
                <a:latin typeface="Calibri"/>
              </a:rPr>
              <a:t>Jul 2026 (PAIMANA)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971800" y="5943600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1,775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06240" y="5943600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33,70,138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989320" y="5943600"/>
            <a:ext cx="205740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1FA"/>
                </a:solidFill>
                <a:latin typeface="Calibri"/>
              </a:rPr>
              <a:t>37,10,642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092440" y="5943600"/>
            <a:ext cx="173736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D2A8"/>
                </a:solidFill>
                <a:latin typeface="Calibri"/>
              </a:rPr>
              <a:t>3,40,504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875520" y="5943600"/>
            <a:ext cx="1188720" cy="310896"/>
          </a:xfrm>
          <a:prstGeom prst="rect">
            <a:avLst/>
          </a:prstGeom>
          <a:noFill/>
        </p:spPr>
        <p:txBody>
          <a:bodyPr wrap="square" lIns="0" rIns="7315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D2A8"/>
                </a:solidFill>
                <a:latin typeface="Calibri"/>
              </a:rPr>
              <a:t>10.10%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207008"/>
            <a:ext cx="2670048" cy="859536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₹5.65 lakh 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EE8F6"/>
                </a:solidFill>
                <a:latin typeface="Calibri"/>
              </a:rPr>
              <a:t>cost overrun on 1,981 ongoing projects, Apr 2026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64408" y="1207008"/>
            <a:ext cx="2670048" cy="859536"/>
          </a:xfrm>
          <a:prstGeom prst="roundRect">
            <a:avLst>
              <a:gd name="adj" fmla="val 10000"/>
            </a:avLst>
          </a:prstGeom>
          <a:solidFill>
            <a:srgbClr val="0F6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43.1%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EE8F6"/>
                </a:solidFill>
                <a:latin typeface="Calibri"/>
              </a:rPr>
              <a:t>delayed against original schedule (792 of 1,838, Apr 2024)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17336" y="1207008"/>
            <a:ext cx="2670048" cy="859536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₹6.33 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EE8F6"/>
                </a:solidFill>
                <a:latin typeface="Calibri"/>
              </a:rPr>
              <a:t>idle capital per project for each month of delay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70264" y="1207008"/>
            <a:ext cx="2670048" cy="859536"/>
          </a:xfrm>
          <a:prstGeom prst="roundRect">
            <a:avLst>
              <a:gd name="adj" fmla="val 1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₹500 cr / yr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EE8F6"/>
                </a:solidFill>
                <a:latin typeface="Calibri"/>
              </a:rPr>
              <a:t>value of acting 1 month earlier on 10% of delayed projects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2231136"/>
            <a:ext cx="3931920" cy="3136392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Potential impact on the target audience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MoSPI · Infrastructure and Project Monitoring Division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A ranked monthly watch-list instead of a 153-page PDF.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17 line ministries and implementing agencies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Each alert names the blocking cause and the authority who can clear it.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PMG / DPIIT and NITI Aayog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Escalation aimed where the base rate says it pays.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Parliament, CAG and citizens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Restores the word the reports stopped using: from Sep 2025 PAIMANA reclassified “delayed” projects as “ongoing”.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617720" y="2231136"/>
            <a:ext cx="3794760" cy="3136392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Benefits of the solution (social, economic, environmental, etc.)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Economic — the calculation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₹19,26,100 cr expenditure ÷ 1,775 projects = ₹1,085 cr average capital committed per project.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87722"/>
                </a:solidFill>
                <a:latin typeface="Calibri"/>
              </a:rPr>
              <a:t>• At a 7% cost of public capital: 1,085 × 0.07 ÷ 12 = ₹6.33 cr idle per project-month.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79 projects (10% of the 792 delayed) pulled forward by one month = 79 × 6.33 = ₹500 cr a year.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E7A46"/>
                </a:solidFill>
                <a:latin typeface="Calibri"/>
              </a:rPr>
              <a:t>• Against a ₹2.0 lakh per year run cost, break-even is 0.003 project-months.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Social and governance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Calibrated public risk, and an agency-level record of forecast accuracy.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Environmental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Shorter idle-asset periods, and less rework and re-tendering per completed project.</a:t>
            </a:r>
          </a:p>
        </p:txBody>
      </p:sp>
      <p:graphicFrame>
        <p:nvGraphicFramePr>
          <p:cNvPr id="17416" name="Chart 17415"/>
          <p:cNvGraphicFramePr>
            <a:graphicFrameLocks noGrp="1"/>
          </p:cNvGraphicFramePr>
          <p:nvPr/>
        </p:nvGraphicFramePr>
        <p:xfrm>
          <a:off x="8686800" y="2231136"/>
          <a:ext cx="3090672" cy="31363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207008"/>
            <a:ext cx="5623560" cy="34747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Details / Links of the reference and research work — primary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MoSPI PAIMANA portal, report archive (opened 16 Sep 2026)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paimana-proj.mospi.gov.in/ReportPage and /ReportPage/ArchiveProjectMonitoring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307 monthly Flash Reports listed, FY2001-02 to FY2026-27; 93 of them from FY2019-20.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Reports read end to end for this submission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Jul 2019 · Apr 2024 (Part I and II) · Oct 2024 · Jun 2025 · Oct 2025 · Jul 2026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Each file pinned by SHA-256; every figure on slides 2 to 5 is read from these.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Journalism establishing the transparency gap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S. Chavaly, “When ‘delayed’ becomes ‘ongoing’”, ThePrint, 13 Aug 2026: 1,981 projects, ₹5.65 trillion overrun, PAIMANA from Sep 2025.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263640" y="1207008"/>
            <a:ext cx="5513832" cy="3474720"/>
          </a:xfrm>
          <a:prstGeom prst="roundRect">
            <a:avLst>
              <a:gd name="adj" fmla="val 4000"/>
            </a:avLst>
          </a:prstGeom>
          <a:solidFill>
            <a:srgbClr val="F1F5FA"/>
          </a:solidFill>
          <a:ln w="9525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 b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Method and literature (DOIs verified via Crossref, 15 Sep 2026)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Andrić, Lin, Cheng and Sun (2024). Cost and causes of overruns in South Asian infrastructure. Sustainability 16(24):11159. doi:10.3390/su162411159 — n = 138, 3.3% mean overrun, random forest best.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Egwim et al. (2021). Applied AI for predicting construction project delay. Machine Learning with Applications 6:100166. doi:10.1016/j.mlwa.2021.100166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Gneiting, Balabdaoui and Raftery (2007). Probabilistic forecasts, calibration and sharpness. JRSS-B 69(2):243-268.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Candès, Lei and Ren (2023). Conformalized survival analysis. JRSS-B 85(1):24. arXiv:2103.09763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Grinsztajn, Oyallon and Varoquaux (2022). Why do tree-based models still outperform deep learning on tabular data? NeurIPS Datasets and Benchmarks.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• Cantarelli, Davis, Pinto and Turner (2025). Reference class forecasting: promises, problems. Production Planning and Control. doi:10.1080/09537287.2025.2578708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4828032"/>
            <a:ext cx="11365992" cy="118872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Our gap statement: the closest published work uses 138 completed projects. We use about 1.6 lakh project-month rows across 1,700 to 2,000 live projects, and evaluate the way a forecaster must — walk-forward, calibrated, with intervals.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DEE8F6"/>
                </a:solidFill>
                <a:latin typeface="Calibri"/>
              </a:rPr>
              <a:t>No published benchmark exists for delay prediction on Indian central-sector projects, so we establish the first walk-forward baseline rather than claim to beat a state of the art that does not exist.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